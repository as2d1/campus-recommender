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185e64cdd6437e" /><Relationship Type="http://schemas.openxmlformats.org/officeDocument/2006/relationships/extended-properties" Target="/docProps/app.xml" Id="R2b78d2a3549f465c" /><Relationship Type="http://schemas.openxmlformats.org/officeDocument/2006/relationships/officeDocument" Target="/ppt/presentation.xml" Id="R7252258381d140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033118359d42af"/>
  </p:sldMasterIdLst>
  <p:notesMasterIdLst>
    <p:notesMasterId xmlns:r="http://schemas.openxmlformats.org/officeDocument/2006/relationships" r:id="R0c771f15b87c4dbd"/>
  </p:notesMasterIdLst>
  <p:sldIdLst>
    <p:sldId xmlns:r="http://schemas.openxmlformats.org/officeDocument/2006/relationships" id="256" r:id="R4a920527fcc04e01"/>
    <p:sldId xmlns:r="http://schemas.openxmlformats.org/officeDocument/2006/relationships" id="257" r:id="R768bd2ad73eb4dfb"/>
    <p:sldId xmlns:r="http://schemas.openxmlformats.org/officeDocument/2006/relationships" id="258" r:id="Radda7af30f0a4df2"/>
    <p:sldId xmlns:r="http://schemas.openxmlformats.org/officeDocument/2006/relationships" id="259" r:id="Re15878a73b234c3e"/>
    <p:sldId xmlns:r="http://schemas.openxmlformats.org/officeDocument/2006/relationships" id="260" r:id="R5945e6a6be70495f"/>
    <p:sldId xmlns:r="http://schemas.openxmlformats.org/officeDocument/2006/relationships" id="261" r:id="R9cd64370e30c414a"/>
    <p:sldId xmlns:r="http://schemas.openxmlformats.org/officeDocument/2006/relationships" id="262" r:id="R51363c71084f4dd2"/>
    <p:sldId xmlns:r="http://schemas.openxmlformats.org/officeDocument/2006/relationships" id="263" r:id="Rbe31e8a6a0f64729"/>
    <p:sldId xmlns:r="http://schemas.openxmlformats.org/officeDocument/2006/relationships" id="264" r:id="Rdb1213b2bf8e4946"/>
    <p:sldId xmlns:r="http://schemas.openxmlformats.org/officeDocument/2006/relationships" id="265" r:id="R106b93d0aa294042"/>
    <p:sldId xmlns:r="http://schemas.openxmlformats.org/officeDocument/2006/relationships" id="266" r:id="R169b2e5c8e4a47f3"/>
    <p:sldId xmlns:r="http://schemas.openxmlformats.org/officeDocument/2006/relationships" id="267" r:id="R87ce5bb01e5f4fe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bd963579774a1e" /><Relationship Type="http://schemas.openxmlformats.org/officeDocument/2006/relationships/slideMaster" Target="/ppt/slideMasters/slideMaster1.xml" Id="R5a033118359d42af" /><Relationship Type="http://schemas.openxmlformats.org/officeDocument/2006/relationships/notesMaster" Target="/ppt/notesMasters/notesMaster1.xml" Id="R0c771f15b87c4dbd" /><Relationship Type="http://schemas.openxmlformats.org/officeDocument/2006/relationships/presProps" Target="/ppt/presProps.xml" Id="R8f9685266a7a4a97" /><Relationship Type="http://schemas.openxmlformats.org/officeDocument/2006/relationships/viewProps" Target="/ppt/viewProps.xml" Id="R7436c2cf1eb046c2" /><Relationship Type="http://schemas.openxmlformats.org/officeDocument/2006/relationships/tableStyles" Target="/ppt/tableStyles.xml" Id="R1919c9e1854f4c4e" /><Relationship Type="http://schemas.openxmlformats.org/officeDocument/2006/relationships/slide" Target="/ppt/slides/slide1.xml" Id="R4a920527fcc04e01" /><Relationship Type="http://schemas.openxmlformats.org/officeDocument/2006/relationships/slide" Target="/ppt/slides/slide2.xml" Id="R768bd2ad73eb4dfb" /><Relationship Type="http://schemas.openxmlformats.org/officeDocument/2006/relationships/slide" Target="/ppt/slides/slide3.xml" Id="Radda7af30f0a4df2" /><Relationship Type="http://schemas.openxmlformats.org/officeDocument/2006/relationships/slide" Target="/ppt/slides/slide4.xml" Id="Re15878a73b234c3e" /><Relationship Type="http://schemas.openxmlformats.org/officeDocument/2006/relationships/slide" Target="/ppt/slides/slide5.xml" Id="R5945e6a6be70495f" /><Relationship Type="http://schemas.openxmlformats.org/officeDocument/2006/relationships/slide" Target="/ppt/slides/slide6.xml" Id="R9cd64370e30c414a" /><Relationship Type="http://schemas.openxmlformats.org/officeDocument/2006/relationships/slide" Target="/ppt/slides/slide7.xml" Id="R51363c71084f4dd2" /><Relationship Type="http://schemas.openxmlformats.org/officeDocument/2006/relationships/slide" Target="/ppt/slides/slide8.xml" Id="Rbe31e8a6a0f64729" /><Relationship Type="http://schemas.openxmlformats.org/officeDocument/2006/relationships/slide" Target="/ppt/slides/slide9.xml" Id="Rdb1213b2bf8e4946" /><Relationship Type="http://schemas.openxmlformats.org/officeDocument/2006/relationships/slide" Target="/ppt/slides/slide10.xml" Id="R106b93d0aa294042" /><Relationship Type="http://schemas.openxmlformats.org/officeDocument/2006/relationships/slide" Target="/ppt/slides/slide11.xml" Id="R169b2e5c8e4a47f3" /><Relationship Type="http://schemas.openxmlformats.org/officeDocument/2006/relationships/slide" Target="/ppt/slides/slide12.xml" Id="R87ce5bb01e5f4f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e9eadbb1c94a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cac4eb858748c8" /><Relationship Type="http://schemas.openxmlformats.org/officeDocument/2006/relationships/notesMaster" Target="/ppt/notesMasters/notesMaster1.xml" Id="R9f3f3f64c71a43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05305ca1644866" /><Relationship Type="http://schemas.openxmlformats.org/officeDocument/2006/relationships/notesMaster" Target="/ppt/notesMasters/notesMaster1.xml" Id="R20eb2cf40a1f45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8d3eecd27e46d4" /><Relationship Type="http://schemas.openxmlformats.org/officeDocument/2006/relationships/notesMaster" Target="/ppt/notesMasters/notesMaster1.xml" Id="Rc3a7538ab5d449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f446da27f884044" /><Relationship Type="http://schemas.openxmlformats.org/officeDocument/2006/relationships/notesMaster" Target="/ppt/notesMasters/notesMaster1.xml" Id="Rbfef5750a23d4e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fa193470ce843da" /><Relationship Type="http://schemas.openxmlformats.org/officeDocument/2006/relationships/notesMaster" Target="/ppt/notesMasters/notesMaster1.xml" Id="R7a01f254a5104b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11a182c44d41fd" /><Relationship Type="http://schemas.openxmlformats.org/officeDocument/2006/relationships/notesMaster" Target="/ppt/notesMasters/notesMaster1.xml" Id="Re83c404871a64c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aa2912d7244284" /><Relationship Type="http://schemas.openxmlformats.org/officeDocument/2006/relationships/notesMaster" Target="/ppt/notesMasters/notesMaster1.xml" Id="Rd01bfa3ffae2495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d649fd5c17e4dd2" /><Relationship Type="http://schemas.openxmlformats.org/officeDocument/2006/relationships/notesMaster" Target="/ppt/notesMasters/notesMaster1.xml" Id="Ra06372b1a27c456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f5790c525294b75" /><Relationship Type="http://schemas.openxmlformats.org/officeDocument/2006/relationships/notesMaster" Target="/ppt/notesMasters/notesMaster1.xml" Id="Rbcaa6d7b098a4ce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872dc0af7b94df3" /><Relationship Type="http://schemas.openxmlformats.org/officeDocument/2006/relationships/notesMaster" Target="/ppt/notesMasters/notesMaster1.xml" Id="Rb4199c573be6431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2e881c0cf2a4ea5" /><Relationship Type="http://schemas.openxmlformats.org/officeDocument/2006/relationships/notesMaster" Target="/ppt/notesMasters/notesMaster1.xml" Id="R50ace604568c4e8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9591eee7fb94001" /><Relationship Type="http://schemas.openxmlformats.org/officeDocument/2006/relationships/notesMaster" Target="/ppt/notesMasters/notesMaster1.xml" Id="Ra2c5880bc27a49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6f80bc05b644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b83e8c5c5a4163" /><Relationship Type="http://schemas.openxmlformats.org/officeDocument/2006/relationships/slideLayout" Target="/ppt/slideLayouts/slideLayout1.xml" Id="Rdb72bdc09cf843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72bdc09cf843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0c8ba8211d4d51" /><Relationship Type="http://schemas.openxmlformats.org/officeDocument/2006/relationships/notesSlide" Target="/ppt/notesSlides/notesSlide1.xml" Id="R99e6041750354f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e4c930cfdf47b8" /><Relationship Type="http://schemas.openxmlformats.org/officeDocument/2006/relationships/notesSlide" Target="/ppt/notesSlides/notesSlide2.xml" Id="R9b40c274f9224a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bf5bad7a4e4739" /><Relationship Type="http://schemas.openxmlformats.org/officeDocument/2006/relationships/notesSlide" Target="/ppt/notesSlides/notesSlide3.xml" Id="R75842c7cfc4645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023f887ff64d94" /><Relationship Type="http://schemas.openxmlformats.org/officeDocument/2006/relationships/notesSlide" Target="/ppt/notesSlides/notesSlide4.xml" Id="R3d876e64b09f47f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61b5c7293c4046" /><Relationship Type="http://schemas.openxmlformats.org/officeDocument/2006/relationships/notesSlide" Target="/ppt/notesSlides/notesSlide5.xml" Id="R04bad6001d2c40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5193f207b4091" /><Relationship Type="http://schemas.openxmlformats.org/officeDocument/2006/relationships/notesSlide" Target="/ppt/notesSlides/notesSlide6.xml" Id="R4381119f07e545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be52cad77b4fe7" /><Relationship Type="http://schemas.openxmlformats.org/officeDocument/2006/relationships/notesSlide" Target="/ppt/notesSlides/notesSlide7.xml" Id="R676c526a43b146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7470434b744fb3" /><Relationship Type="http://schemas.openxmlformats.org/officeDocument/2006/relationships/notesSlide" Target="/ppt/notesSlides/notesSlide8.xml" Id="R81c4f24fbb05484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1e234efe4c402a" /><Relationship Type="http://schemas.openxmlformats.org/officeDocument/2006/relationships/notesSlide" Target="/ppt/notesSlides/notesSlide9.xml" Id="R9153349838a14f0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d9f3139f7f424a" /><Relationship Type="http://schemas.openxmlformats.org/officeDocument/2006/relationships/notesSlide" Target="/ppt/notesSlides/notesSlide10.xml" Id="R275e5b62e53a461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4b21cfec1848ef" /><Relationship Type="http://schemas.openxmlformats.org/officeDocument/2006/relationships/notesSlide" Target="/ppt/notesSlides/notesSlide11.xml" Id="Rc12cbc2b7e7c451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8aa34d78874bdd" /><Relationship Type="http://schemas.openxmlformats.org/officeDocument/2006/relationships/notesSlide" Target="/ppt/notesSlides/notesSlide12.xml" Id="R6500d9bf38684c7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25DECD22-EFA1-41A6-860A-2CF53AEB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left-wash">
            <a:extLst xmlns:a="http://schemas.openxmlformats.org/drawingml/2006/main">
              <a:ext uri="{FF2B5EF4-FFF2-40B4-BE49-F238E27FC236}">
                <a16:creationId xmlns:a16="http://schemas.microsoft.com/office/drawing/2014/main" id="{9F10AD3F-7457-4E30-BE2D-FD235196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ight-wash">
            <a:extLst xmlns:a="http://schemas.openxmlformats.org/drawingml/2006/main">
              <a:ext uri="{FF2B5EF4-FFF2-40B4-BE49-F238E27FC236}">
                <a16:creationId xmlns:a16="http://schemas.microsoft.com/office/drawing/2014/main" id="{A3D654D7-7A18-428C-9E02-39CCB462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152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92A034-F533-428E-9A6A-417B4D2E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915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校园论坛推荐系统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BB2C09-C9F6-464F-8363-57945784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6858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rPr>
              <a:t>模型算法汇报：从多路召回到 DeepFM 排序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F44708-0814-482E-B5E5-70AA3DB6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685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面向校园社区的个性化信息流，将用户行为、内容语义、协同关系与实时场景组合成可解释的 TopN 推荐。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6638AA-0ABE-47C5-BDB4-B8B3636E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16954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00D364-7A4A-499A-95E6-5E68FBD2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666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8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FD9390-2DEA-44A0-8EF3-B79D23A6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9095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数据清洗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1CC918-0D52-4C13-B555-1346AB14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1390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SQLite → 标准表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46A3D9-C238-4F94-8B7B-69EC2AAC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981450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85D86E-55CC-4B2C-A24F-A1D4B7F8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638550"/>
            <a:ext cx="16954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4"/>
          </a:solidFill>
          <a:ln xmlns:a="http://schemas.openxmlformats.org/drawingml/2006/main" w="9525">
            <a:solidFill>
              <a:srgbClr val="CBD8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7F20C9-1BD8-4882-BFAF-06AF54AB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638550"/>
            <a:ext cx="666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B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5B0934-1072-4480-8F80-1FD56BE2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79095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画像建模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F59DDF-1A3A-435B-AEBE-A65E95F8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114800"/>
            <a:ext cx="1390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长短期兴趣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C28083-3EDF-49C0-8C5B-3D122BEE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981450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F03D81-6460-48F1-9ADA-6692BD7C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38550"/>
            <a:ext cx="16954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412AAC-8957-4F30-A5A4-DF792B63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38550"/>
            <a:ext cx="666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8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38DB32-3688-4B54-8891-3405AED4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9095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多路召回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EC7C0C-D384-4C72-9BD0-F76FF427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14800"/>
            <a:ext cx="1390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6 个候选入口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932D30-ED06-4BB1-9A0E-57EFD4DE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81450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737F28-ADD4-4048-A00C-D5385F06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38550"/>
            <a:ext cx="16954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4"/>
          </a:solidFill>
          <a:ln xmlns:a="http://schemas.openxmlformats.org/drawingml/2006/main" w="9525">
            <a:solidFill>
              <a:srgbClr val="CBD8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01A79B-1A15-4843-85CD-74C9DFFE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38550"/>
            <a:ext cx="666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B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BC59C3-F0CA-47C6-864F-4EA02722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9095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DeepFM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B093DE-DEFE-401B-B071-13490530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14800"/>
            <a:ext cx="1390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点击/正反馈排序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806111-4662-4236-811A-5D61BDD7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81450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F4E0CC-2D20-4D07-B0DB-B0AB1242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38550"/>
            <a:ext cx="16954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85772C-E629-476E-9693-45592291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38550"/>
            <a:ext cx="666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8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73E976-5470-485A-BD30-FD684967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79095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重排输出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7B6BC8-8A6D-47A4-BD08-AAAA843D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114800"/>
            <a:ext cx="1390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多样性与新鲜度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9AE6F5-F526-4656-8689-CB74736D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914400"/>
            <a:ext cx="23241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1008D1-7475-44EB-AEF9-4397CDF5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1811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1A2A42-70A3-49E9-86A8-6AC6E017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00200"/>
            <a:ext cx="1809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召回通道：hot/latest/content/ItemCF/profile/time_scene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06DA68-53D2-4600-810F-96287395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383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C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8CB3C7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C538C2-668B-4021-8D1A-3C3025F5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57450"/>
            <a:ext cx="1809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兴趣方向：learning/life/social/career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A7521D-3653-49AC-93E5-0F764B272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956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DeepFM + 规则重排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C3A975-71BF-4849-8063-A6A38DFEB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813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兼顾模型排序与产品可控性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1F5E843-8643-445F-A36C-4618E39F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1096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FB958EE-64DD-42EF-853F-D524639F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项目分支 Leslie1｜算法源码位于 src/，前端与服务层仅作为推荐结果展示与反馈入口</a:t>
            </a:r>
          </a:p>
        </p:txBody>
      </p:sp>
    </p:spTree>
    <p:extLst>
      <p:ext uri="{BB962C8B-B14F-4D97-AF65-F5344CB8AC3E}">
        <p14:creationId xmlns:p14="http://schemas.microsoft.com/office/powerpoint/2010/main" val="123006612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9C3162E3-2A10-4ACB-AEEF-F81CCADC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left-wash">
            <a:extLst xmlns:a="http://schemas.openxmlformats.org/drawingml/2006/main">
              <a:ext uri="{FF2B5EF4-FFF2-40B4-BE49-F238E27FC236}">
                <a16:creationId xmlns:a16="http://schemas.microsoft.com/office/drawing/2014/main" id="{A2396B50-E86F-459A-AE62-BE9032FE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ight-wash">
            <a:extLst xmlns:a="http://schemas.openxmlformats.org/drawingml/2006/main">
              <a:ext uri="{FF2B5EF4-FFF2-40B4-BE49-F238E27FC236}">
                <a16:creationId xmlns:a16="http://schemas.microsoft.com/office/drawing/2014/main" id="{3872533F-1E19-4F95-93DA-EAE835E2A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152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88E8E6F-56C0-4FDD-ACBC-55AA7D8F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0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0CE4086-B2AB-4EDD-9C6A-BA80350C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rPr>
              <a:t>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530C2A-26FF-42BA-92A7-470F4CFA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19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README.md, src/preprocess.py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DC42C3-2451-42B1-99DF-59FE3A48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33375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E5076B-42CE-4876-995E-D80E048B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11096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F830F1-1002-4EAE-85E6-662E3C99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8477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校园内容短生命周期和兴趣漂移，要求推荐系统同时追新、懂人、可解释。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BFC3A9-C9A0-4B23-94F2-488C52FA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3048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F86EAA-A9C6-4ADE-B32E-7733C850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内容短效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7493AA-E6AA-490B-AC7B-28419B9C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9085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通知、活动、二手、求助都有明显时效性；热度过期后继续推荐会损害体验。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E2BE66-6E74-4DC7-81ED-FE4C74DF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255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C65BD1-04C2-439F-85E7-3F25B05E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291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90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89057"/>
                </a:solidFill>
                <a:latin typeface="Microsoft YaHei"/>
                <a:ea typeface="Microsoft YaHei"/>
                <a:cs typeface="Microsoft YaHei"/>
              </a:rPr>
              <a:t>算法回应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E0CD94-88A1-42C5-85FC-4207D450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rPr>
              <a:t>时间衰减热度 + latest 召回 + freshness_bonus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B880B3-4684-4C5D-92C3-844C407B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09800"/>
            <a:ext cx="3048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0"/>
          </a:solidFill>
          <a:ln xmlns:a="http://schemas.openxmlformats.org/drawingml/2006/main" w="9525">
            <a:solidFill>
              <a:srgbClr val="CBD8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F0FAC6-6EAF-4D4F-8E1F-25C8523B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574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兴趣多元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57607E-D74E-4D93-99BF-44AFB936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9085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同一用户可能同时关注课程、生活、社交、就业，单一兴趣向量容易平均掉偏好。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50F5CB-DEC8-41B9-84C2-AC9CD3A9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19550"/>
            <a:ext cx="255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EE0981-B00F-4C57-BE29-77ACB139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2291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90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89057"/>
                </a:solidFill>
                <a:latin typeface="Microsoft YaHei"/>
                <a:ea typeface="Microsoft YaHei"/>
                <a:cs typeface="Microsoft YaHei"/>
              </a:rPr>
              <a:t>算法回应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8AAD81-C1C0-4530-BA0A-FAC7D115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1485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rPr>
              <a:t>四方向多兴趣向量 + 长短期标签画像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1B586A-875C-4D85-95FC-A091E40F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09800"/>
            <a:ext cx="3048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ADFF7E-742A-4012-94FF-A26C5715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574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行为稀疏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63725C-697D-4604-A677-B22D8946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9085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点赞、收藏、评论不是每个用户都有；只靠协同过滤会产生冷启动和覆盖不足。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F952C9-659C-4BD0-B1DB-3E2BE22D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19550"/>
            <a:ext cx="255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3AD137-F411-41C3-9013-D5FEB960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291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90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89057"/>
                </a:solidFill>
                <a:latin typeface="Microsoft YaHei"/>
                <a:ea typeface="Microsoft YaHei"/>
                <a:cs typeface="Microsoft YaHei"/>
              </a:rPr>
              <a:t>算法回应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AB12B0-5932-43F2-B93A-D73158D7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1485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rPr>
              <a:t>热门/最新兜底 + profile/content/scene 补全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A571CC-0DB1-4F9C-936E-7DAB8176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1096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651A38-DC7D-4AA4-A4D2-BAC39232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核心思路：不要押注单一模型，而是让召回、排序、重排各自解决一类风险。</a:t>
            </a:r>
          </a:p>
        </p:txBody>
      </p:sp>
    </p:spTree>
    <p:extLst>
      <p:ext uri="{BB962C8B-B14F-4D97-AF65-F5344CB8AC3E}">
        <p14:creationId xmlns:p14="http://schemas.microsoft.com/office/powerpoint/2010/main" val="26668728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6900688A-C33B-467C-8709-8DB36130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left-wash">
            <a:extLst xmlns:a="http://schemas.openxmlformats.org/drawingml/2006/main">
              <a:ext uri="{FF2B5EF4-FFF2-40B4-BE49-F238E27FC236}">
                <a16:creationId xmlns:a16="http://schemas.microsoft.com/office/drawing/2014/main" id="{406C9BDC-DB45-47A0-A3CE-35EF612C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ight-wash">
            <a:extLst xmlns:a="http://schemas.openxmlformats.org/drawingml/2006/main">
              <a:ext uri="{FF2B5EF4-FFF2-40B4-BE49-F238E27FC236}">
                <a16:creationId xmlns:a16="http://schemas.microsoft.com/office/drawing/2014/main" id="{0B659A23-6FB5-4248-A915-6D6BBD0F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152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D56654A-5EB6-4260-AF55-972AD403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0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F804C24-ED37-45EE-AAC1-A62B487A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rPr>
              <a:t>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B7BAA6-7E37-4254-ABF4-CCE690DA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19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src/recommend.py, src/service.py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669265-8A15-4654-95E7-D7F4C4B6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33375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176E91-B57C-48DF-8C6D-0749D0B6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11096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BB788C-600C-4C32-97E7-3360B084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8477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线上推荐路径把数据库记录逐层压缩成可解释的 TopN 信息流。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F7627A-9413-4050-AB30-6811F00D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24100"/>
            <a:ext cx="1962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447CCA-35A1-4AA0-B910-82497223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24100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8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854AB1-002D-40CA-A485-09AA3C74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SQLite 标准表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85CF59-20AF-4DC0-ACA8-F9F3286E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users/posts/events/stats/comments/tags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C934D3-06CF-4390-8D59-CB1AF91A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28900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9838E2-2F06-4605-A417-E437B598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38550"/>
            <a:ext cx="1962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4"/>
          </a:solidFill>
          <a:ln xmlns:a="http://schemas.openxmlformats.org/drawingml/2006/main" w="9525">
            <a:solidFill>
              <a:srgbClr val="CBD8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207F22-5435-4EB5-957A-FC707017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38550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B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EB660C-C637-4832-886E-120A7550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预处理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1B4E79-4859-4163-8743-1AFA7EB1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清洗时间、热度、标签、样本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ADD996-4E97-49F8-BFEE-24278DE31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24100"/>
            <a:ext cx="1962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4"/>
          </a:solidFill>
          <a:ln xmlns:a="http://schemas.openxmlformats.org/drawingml/2006/main" w="9525">
            <a:solidFill>
              <a:srgbClr val="CBD8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66C60F-C0BE-4AF7-A4D0-4E630065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24100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B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295CC0-D7D8-470F-8013-65A1DEC5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7650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画像与向量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8F889B-A28D-4F86-83E2-9A392723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00350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长短期标签、TF-IDF、多兴趣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E22CA1-2F4C-4A5E-8021-6305A288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28900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3BD726-6217-4BA8-B691-4028CB39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38550"/>
            <a:ext cx="1962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2C9EDE-83B9-405D-91E3-94728D46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38550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8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FB1D28-E968-4C2D-84A9-497EAAB4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79095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多路召回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73BCC9-ACDD-430B-B591-BB9C4360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114800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6 路候选集合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3BBB82-4F26-4E0F-A41C-894B5F5A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24100"/>
            <a:ext cx="1962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4"/>
          </a:solidFill>
          <a:ln xmlns:a="http://schemas.openxmlformats.org/drawingml/2006/main" w="9525">
            <a:solidFill>
              <a:srgbClr val="CBD8D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A8BE37-44A4-4060-A6B8-FC17D2FF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24100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B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8297D7-98F0-4AC3-BF67-110ACF99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7650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候选融合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3A4521-FC40-4FD0-920D-1B34C557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00350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归一化、加权、去重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0F1F67-765E-47F2-882A-F54229F4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28900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DB8E63-D3DF-4B04-BF2F-CC5E3E1D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38550"/>
            <a:ext cx="1962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4"/>
          </a:solidFill>
          <a:ln xmlns:a="http://schemas.openxmlformats.org/drawingml/2006/main" w="9525">
            <a:solidFill>
              <a:srgbClr val="CBD8D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9BE588-AB3F-46CB-9DC2-23B4C547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38550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B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4EA239-EC04-40E9-9EB9-5B0AB735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9095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DeepFM 排序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75B023-52E7-4BF7-9C73-A6E27582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14800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rank_score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DCBC74-65D4-4F19-A5BF-E1E4365E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24100"/>
            <a:ext cx="1962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F9380A-53E1-4283-98AD-F56ADC35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24100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8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C0F1336-819C-4288-A810-D5612143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7650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规则重排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F412571-DDC5-4677-AC8A-946859E3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00350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freshness/diversity/profile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7732531-36C7-47CF-9E15-A5D8B1AF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628900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29C9B8B-4AE9-413A-904C-532A7527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38550"/>
            <a:ext cx="1962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4"/>
          </a:solidFill>
          <a:ln xmlns:a="http://schemas.openxmlformats.org/drawingml/2006/main" w="9525">
            <a:solidFill>
              <a:srgbClr val="CBD8D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E44AF52-8C5D-43DB-8EC7-EBC66BD2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38550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B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BE0C64D-2C74-48E9-9A67-22ED1F0F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79095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API 输出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2B0E831-4EF3-40D1-A429-CA34E93B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114800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TopN + 推荐理由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98127EE-A63D-4EB9-A592-4C94538B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9590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4D4"/>
          </a:solidFill>
          <a:ln xmlns:a="http://schemas.openxmlformats.org/drawingml/2006/main" w="9525">
            <a:solidFill>
              <a:srgbClr val="E0C9A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0482218-6C22-4A1C-AAAD-F8F8EC2F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19725"/>
            <a:ext cx="800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行为反馈闭环：曝光、点击、点赞、收藏、跳过等行为写入事件表，刷新用户画像，并影响下一轮召回/重排。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58F3FB4-BDA1-4726-A317-DA05317D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1096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4E53935-920E-4203-950B-F823155B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主链路：recommend_for_user → build_recall_results → merge_recall_candidates → rank_candidates → rerank_candidates</a:t>
            </a:r>
          </a:p>
        </p:txBody>
      </p:sp>
    </p:spTree>
    <p:extLst>
      <p:ext uri="{BB962C8B-B14F-4D97-AF65-F5344CB8AC3E}">
        <p14:creationId xmlns:p14="http://schemas.microsoft.com/office/powerpoint/2010/main" val="100623359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011E3A5D-1388-4D0A-8CBA-3A691420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left-wash">
            <a:extLst xmlns:a="http://schemas.openxmlformats.org/drawingml/2006/main">
              <a:ext uri="{FF2B5EF4-FFF2-40B4-BE49-F238E27FC236}">
                <a16:creationId xmlns:a16="http://schemas.microsoft.com/office/drawing/2014/main" id="{8672BA0E-5B6E-449B-AF41-D94854EB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ight-wash">
            <a:extLst xmlns:a="http://schemas.openxmlformats.org/drawingml/2006/main">
              <a:ext uri="{FF2B5EF4-FFF2-40B4-BE49-F238E27FC236}">
                <a16:creationId xmlns:a16="http://schemas.microsoft.com/office/drawing/2014/main" id="{3E9FEA8A-5E36-47BE-AE7D-69C31A32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152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34F5C0F-FA4D-49B8-ABA8-68477BE5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0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6B9E8B5-B0B4-483D-B132-F3F5C5C3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rPr>
              <a:t>DATA LABELS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6480AF-47D5-4154-88F0-34BB4ECC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19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src/preprocess.py, src/feature_engineering.py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293819-4431-46EE-B57C-5E6E575E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33375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7193EF-1941-4693-8755-63FE85CD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11096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D7A626-D6B3-45DA-8251-FA72ED82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8477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训练样本不是直接拿浏览记录，而是把行为语义、停留时长和负采样组合成监督信号。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0FEF29-5DB6-4D06-A18F-8596CB31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2190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65F1D3-A321-403B-8150-62C03173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666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8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6F755B-9B58-4EDF-BDFA-F2DB949F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1885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原始表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76DBAA-1B50-4F82-8925-EFCFD009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1885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用户、帖子、统计、评论、行为事件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60C62F-ACB7-497F-BC7F-2D543DDC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9555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D8C068-2532-4123-B02D-D200C57D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238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4"/>
          </a:solidFill>
          <a:ln xmlns:a="http://schemas.openxmlformats.org/drawingml/2006/main" w="9525">
            <a:solidFill>
              <a:srgbClr val="CBD8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C599BE-4EFE-408D-88E1-4A437DFF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666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B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68B11B-D484-4592-8B83-77992820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05050"/>
            <a:ext cx="207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清洗与增强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7C8A9A-67A7-4605-BDBA-44EFD8FE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28900"/>
            <a:ext cx="2076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时间段、热度、质量、标签、图片字段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EAC9AE-5929-4BF5-B28D-051C6D02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49555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9C0036-2C8C-4AF7-9383-16FB3EE4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52650"/>
            <a:ext cx="238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5428A6-E339-4116-8BD3-8247EFDF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52650"/>
            <a:ext cx="666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0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81BB5B-70CC-47FA-8D30-1F17FFC2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05050"/>
            <a:ext cx="207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标签构造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A39514-3D53-45A3-BBA0-0E417860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28900"/>
            <a:ext cx="2076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强正反馈 + 长停留；跳过/举报为负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25F981-12CE-46E4-9906-82ADAA35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9555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649CCF-9060-41CF-8C5E-66361068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52650"/>
            <a:ext cx="1943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0"/>
          </a:solidFill>
          <a:ln xmlns:a="http://schemas.openxmlformats.org/drawingml/2006/main" w="9525">
            <a:solidFill>
              <a:srgbClr val="CBD8D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86806E-7A6D-4096-BE2B-83CFDD6E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52650"/>
            <a:ext cx="666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8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928CB6-C089-4C9C-AEE5-80408B47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30505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训练/测试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A793D4-2079-4CF3-9627-62E9C678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628900"/>
            <a:ext cx="1638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4:1 负采样；按时间切分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B931F8-5F34-44ED-9DD8-643CD775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90950"/>
            <a:ext cx="47625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C09932-0E4E-418E-B2E2-8D051936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814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行为权重与正样本规则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42E5A4-AC9E-4A0D-8F14-03DB23F8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00550"/>
            <a:ext cx="1285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collect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A85F28-52D9-4186-8204-F64C32CC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00550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0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9057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FA30B5-4236-4AB7-8DB6-AC766637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005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强正反馈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3062F5-DF88-4AAD-8E17-CCCBF059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10100"/>
            <a:ext cx="1285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comment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777810B-4DD5-4353-870D-140B4F16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610100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0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9057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E8305A-C0A5-4F00-8C14-A150935A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6101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强正反馈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58336EA-F23F-40DD-B465-55E3E9DA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19650"/>
            <a:ext cx="1285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like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F296C1B-4280-4213-AF87-B4BE564F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19650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0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9057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5F1B19F-7CA2-49D4-9F43-E69A6C14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8196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强正反馈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6F2F528-5BD6-41D5-B453-3BB9C1FD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29200"/>
            <a:ext cx="1285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view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AF1A10C-C26F-405B-B8FE-1B7F16E8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29200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0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9057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4904CB6-2CF9-471D-B5E6-07659924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0292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dwell_time ≥ 30s 才为正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FC70241-3EC4-4E3A-9B98-828977C0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38750"/>
            <a:ext cx="1285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skip/dislike/report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E7E8196-4151-4285-BF9A-39C7F144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38750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0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9057"/>
                </a:solidFill>
                <a:latin typeface="Microsoft YaHei"/>
                <a:ea typeface="Microsoft YaHei"/>
                <a:cs typeface="Microsoft YaHei"/>
              </a:rPr>
              <a:t>-1/-2/-4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73045B6-88AD-449A-89FE-8CFCC0D0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387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负反馈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08CCBCB-EC8C-493F-952D-B7FC2B0D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90950"/>
            <a:ext cx="49149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0"/>
          </a:solidFill>
          <a:ln xmlns:a="http://schemas.openxmlformats.org/drawingml/2006/main" w="9525">
            <a:solidFill>
              <a:srgbClr val="CBD8D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C1C758A-6FF3-4E29-9404-54247B70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814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帖子热度特征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5C0B9A1-BD76-494B-85A5-E514D3C2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19600"/>
            <a:ext cx="4238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hot_score = 0.2×view + 0.3×like + 0.3×comment + 0.2×collect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C4ADFD2-BA3E-467D-B676-5FA963A3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76800"/>
            <a:ext cx="4238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rPr>
              <a:t>final_hot_score = hot_score ÷ (1 + post_age_hours / 24)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A879A14-A8EB-41F8-A4B7-4567E8D9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1096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05B423B-7E64-4B86-9216-10BF7A65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注意：PPT 不虚构训练结果；这里只解释项目已经实现的样本和特征生成逻辑。</a:t>
            </a:r>
          </a:p>
        </p:txBody>
      </p:sp>
    </p:spTree>
    <p:extLst>
      <p:ext uri="{BB962C8B-B14F-4D97-AF65-F5344CB8AC3E}">
        <p14:creationId xmlns:p14="http://schemas.microsoft.com/office/powerpoint/2010/main" val="146526150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46C30F63-065D-49E6-A200-2CF4CCC1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left-wash">
            <a:extLst xmlns:a="http://schemas.openxmlformats.org/drawingml/2006/main">
              <a:ext uri="{FF2B5EF4-FFF2-40B4-BE49-F238E27FC236}">
                <a16:creationId xmlns:a16="http://schemas.microsoft.com/office/drawing/2014/main" id="{E9EC0A24-3850-43AE-8C89-FBE052AE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ight-wash">
            <a:extLst xmlns:a="http://schemas.openxmlformats.org/drawingml/2006/main">
              <a:ext uri="{FF2B5EF4-FFF2-40B4-BE49-F238E27FC236}">
                <a16:creationId xmlns:a16="http://schemas.microsoft.com/office/drawing/2014/main" id="{6E8F7E11-496F-47BB-852D-DD9A4164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152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C8EF042-E63B-44A3-B1B0-738AE8A1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0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F10C97E-0143-499A-AF9F-61574EE2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rPr>
              <a:t>PROFILE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88E34D-C88B-43DB-8997-FE70204C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19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src/user_profile.py, src/multi_interest.py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A70533-9BDE-4E02-9147-94CA3A80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33375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99A030-79B2-4B8C-AE5F-9C0C3C2D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11096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0F3FC5-8267-4CE9-9382-F034BAC8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8477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用户画像把低频行为压缩为可解释兴趣，同时保留四个方向的向量化偏好。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AD3866-FFDE-457C-826B-FF3DBDC2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33337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B19330-F2BE-4241-936A-B5ED2745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画像表输出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64D67E-DE65-43D7-BB42-E8B507FE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03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0EA"/>
          </a:solidFill>
          <a:ln xmlns:a="http://schemas.openxmlformats.org/drawingml/2006/main" w="9525">
            <a:solidFill>
              <a:srgbClr val="B8D2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2E87D0-3CAE-41A9-A315-DAB3891C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38450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rPr>
              <a:t>long_term_tags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4FF95A-AD6E-429E-AC1E-C64FA8F9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0EA"/>
          </a:solidFill>
          <a:ln xmlns:a="http://schemas.openxmlformats.org/drawingml/2006/main" w="9525">
            <a:solidFill>
              <a:srgbClr val="B8D2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7FDBF5-F16B-4F2D-9F60-A1FFCD4B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57550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rPr>
              <a:t>short_term_tags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A56A4E-D9D3-4277-A339-5A4130EF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0EA"/>
          </a:solidFill>
          <a:ln xmlns:a="http://schemas.openxmlformats.org/drawingml/2006/main" w="9525">
            <a:solidFill>
              <a:srgbClr val="B8D2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2FE681-928F-42FD-B090-29B24175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76650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rPr>
              <a:t>preferred_boards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21B723-3327-4902-8842-FB583A35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576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0EA"/>
          </a:solidFill>
          <a:ln xmlns:a="http://schemas.openxmlformats.org/drawingml/2006/main" w="9525">
            <a:solidFill>
              <a:srgbClr val="B8D2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2F805F-E3F1-4E50-831A-1EEF21C6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95750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rPr>
              <a:t>active_time_period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BAB58F-026A-4964-871B-4D95229E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0EA"/>
          </a:solidFill>
          <a:ln xmlns:a="http://schemas.openxmlformats.org/drawingml/2006/main" w="9525">
            <a:solidFill>
              <a:srgbClr val="B8D2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B0C438-11D1-440F-A999-80060DC43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14850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rPr>
              <a:t>behavior rates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AE50FB-D37C-479B-A5BC-36EB92FB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76450"/>
            <a:ext cx="6286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0"/>
          </a:solidFill>
          <a:ln xmlns:a="http://schemas.openxmlformats.org/drawingml/2006/main" w="9525">
            <a:solidFill>
              <a:srgbClr val="CBD8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549831-36EA-43D2-AB8F-7355D5EB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050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多兴趣向量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208BD5-8EAB-419A-823A-E687C244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7655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ACAA8F-E20C-42E1-A0E1-CE1A0FAE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146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rPr>
              <a:t>learning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432EC3-369A-40F9-810E-8A7E503D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62275"/>
            <a:ext cx="2190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6545B7-6DA3-40B9-802F-9A98F488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62275"/>
            <a:ext cx="166497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8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C5214A-77CB-437E-85E1-F5460925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432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课程、考试、资料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C2F58F-0213-467D-A659-EB2F6371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337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向量相似度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8AF125-E275-4082-B6B6-ADEA0AF6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3909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3771F8-9809-437C-AE83-F4E0CA49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290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2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426A7D"/>
                </a:solidFill>
                <a:latin typeface="Microsoft YaHei"/>
                <a:ea typeface="Microsoft YaHei"/>
                <a:cs typeface="Microsoft YaHei"/>
              </a:rPr>
              <a:t>life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80FA6C-80CD-447D-9C63-78920B62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76625"/>
            <a:ext cx="2190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0C9D52-A351-490B-ACCA-955FAB3D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76625"/>
            <a:ext cx="135826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B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D7CF89-87C6-4E6B-83A3-EE84640C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575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食堂、宿舍、二手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61CAC9E-7385-4B49-9B32-DCD88A87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480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向量相似度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97235C-7EE8-4930-AC77-902F626E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90525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BA1B58-3026-4222-95EB-4FC10CE1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433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rPr>
              <a:t>social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DDF35FA-BFF1-40CF-8640-567059D3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990975"/>
            <a:ext cx="2190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473FCE2-A26F-41BE-B65A-85DD2654C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990975"/>
            <a:ext cx="120491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0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A852413-0809-4BC2-A4AE-AF09C234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7719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恋爱、交友、活动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92736AC-29CF-4040-BF47-88962CBE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9624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向量相似度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57C923C-A0B5-43EE-BDF5-0F944C12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4196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53C809E-0CFC-4E37-A21B-88D3DF52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57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2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426A7D"/>
                </a:solidFill>
                <a:latin typeface="Microsoft YaHei"/>
                <a:ea typeface="Microsoft YaHei"/>
                <a:cs typeface="Microsoft YaHei"/>
              </a:rPr>
              <a:t>career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BF1487A-9274-4726-8727-9014CE21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505325"/>
            <a:ext cx="2190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63B63FE-CB98-445D-8B0B-D6ABF391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505325"/>
            <a:ext cx="83248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7D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93A10E0-3D5F-4F90-B944-118FBDAE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2862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实习、招聘、就业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52DBB4B-CFC3-4D35-8068-7126F781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4767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向量相似度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60CBF35-02F7-4195-893C-52490497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9911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final_weight = action_weight × time_decay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1BA43D7-0415-4204-8299-F0D80C46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911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rPr>
              <a:t>time_decay = 1 / (1 + days_diff)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FBA4740-553F-461F-9CD2-CCA92BAA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1096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C149B77-D9DE-4EBF-9E1F-B79A4D4F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多兴趣分桶来自 taxonomy.infer_interest_direction，向量由用户交互帖子 TF-IDF 加权平均得到。</a:t>
            </a:r>
          </a:p>
        </p:txBody>
      </p:sp>
    </p:spTree>
    <p:extLst>
      <p:ext uri="{BB962C8B-B14F-4D97-AF65-F5344CB8AC3E}">
        <p14:creationId xmlns:p14="http://schemas.microsoft.com/office/powerpoint/2010/main" val="164176002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0178935F-4487-4856-9594-77730762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left-wash">
            <a:extLst xmlns:a="http://schemas.openxmlformats.org/drawingml/2006/main">
              <a:ext uri="{FF2B5EF4-FFF2-40B4-BE49-F238E27FC236}">
                <a16:creationId xmlns:a16="http://schemas.microsoft.com/office/drawing/2014/main" id="{8F3AA29D-CC32-4292-9725-F2C6BFE2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ight-wash">
            <a:extLst xmlns:a="http://schemas.openxmlformats.org/drawingml/2006/main">
              <a:ext uri="{FF2B5EF4-FFF2-40B4-BE49-F238E27FC236}">
                <a16:creationId xmlns:a16="http://schemas.microsoft.com/office/drawing/2014/main" id="{3B8E04FB-1DA4-4D55-B9B5-6B9E4368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152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A135AA8-E333-4237-9A6A-B2D189AD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0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DF779EA-888E-4A52-9254-D88A0A0D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rPr>
              <a:t>RECALL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452D8E-5B01-4BBB-A8B4-57921895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19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src/recall/*.py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7957D6-529D-4A07-B919-EEE6B2DB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33375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0E0655-D788-44D2-8C52-30ABD96D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11096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132F2C-C18C-4460-9162-82C8CEDF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8477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六个召回通道各自补齐一种候选来源，避免单一算法的覆盖盲区。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9048DA-264E-4D14-93BD-D9B902F6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143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0"/>
          </a:solidFill>
          <a:ln xmlns:a="http://schemas.openxmlformats.org/drawingml/2006/main" w="9525">
            <a:solidFill>
              <a:srgbClr val="CBD8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F56C9C-3FE1-4A0F-AD09-3D4612FD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rPr>
              <a:t>hot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3A6A9B-536E-4CA1-B5F7-BFA72F2B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3431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890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89057"/>
                </a:solidFill>
                <a:latin typeface="Microsoft YaHei"/>
                <a:ea typeface="Microsoft YaHei"/>
                <a:cs typeface="Microsoft YaHei"/>
              </a:rPr>
              <a:t>final_hot_score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1E8D84-9727-4E96-A49E-F2324DBE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全局热帖兜底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4B5775-9BE5-4A29-B53C-195F81A2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33600"/>
            <a:ext cx="3143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F9A686-8225-41D0-B40F-5497510B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050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C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8CB3C7"/>
                </a:solidFill>
                <a:latin typeface="Microsoft YaHei"/>
                <a:ea typeface="Microsoft YaHei"/>
                <a:cs typeface="Microsoft YaHei"/>
              </a:rPr>
              <a:t>latest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A35F4F-15A1-403F-A8C4-F3B62DCA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431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890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89057"/>
                </a:solidFill>
                <a:latin typeface="Microsoft YaHei"/>
                <a:ea typeface="Microsoft YaHei"/>
                <a:cs typeface="Microsoft YaHei"/>
              </a:rPr>
              <a:t>publish_time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2B97E0-093B-41E0-8F36-F0238499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622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新内容进入候选池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CFDEB7-3C07-4DEA-B768-0503A030F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33600"/>
            <a:ext cx="3143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0"/>
          </a:solidFill>
          <a:ln xmlns:a="http://schemas.openxmlformats.org/drawingml/2006/main" w="9525">
            <a:solidFill>
              <a:srgbClr val="CBD8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458D7A-39E9-4D0B-9BFF-0B8533BC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050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rPr>
              <a:t>content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6A59E0-231C-4CAE-B88B-A65094A2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431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890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89057"/>
                </a:solidFill>
                <a:latin typeface="Microsoft YaHei"/>
                <a:ea typeface="Microsoft YaHei"/>
                <a:cs typeface="Microsoft YaHei"/>
              </a:rPr>
              <a:t>TF-IDF cosine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5DEAA4-3934-403B-A770-96B0857F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622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用户正反馈内容相似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C8971C-29C8-4C2E-A0ED-4FE3EF96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3143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B648B8-4B45-468D-AF8A-8E264E40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C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8CB3C7"/>
                </a:solidFill>
                <a:latin typeface="Microsoft YaHei"/>
                <a:ea typeface="Microsoft YaHei"/>
                <a:cs typeface="Microsoft YaHei"/>
              </a:rPr>
              <a:t>itemcf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4AF38D-8F10-419A-A576-318B98A8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9814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890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89057"/>
                </a:solidFill>
                <a:latin typeface="Microsoft YaHei"/>
                <a:ea typeface="Microsoft YaHei"/>
                <a:cs typeface="Microsoft YaHei"/>
              </a:rPr>
              <a:t>共现相似度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26F6E6-0503-4446-9DDD-B7657836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相似用户行为迁移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31E403-66DB-40F7-8ACF-A4D8E6FA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71900"/>
            <a:ext cx="3143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0"/>
          </a:solidFill>
          <a:ln xmlns:a="http://schemas.openxmlformats.org/drawingml/2006/main" w="9525">
            <a:solidFill>
              <a:srgbClr val="CBD8D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BF06E7-0300-4376-864C-0A35AC6F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433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rPr>
              <a:t>profile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A8CB9C-98B1-40B1-BF38-BCF44D38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814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890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89057"/>
                </a:solidFill>
                <a:latin typeface="Microsoft YaHei"/>
                <a:ea typeface="Microsoft YaHei"/>
                <a:cs typeface="Microsoft YaHei"/>
              </a:rPr>
              <a:t>tag/board overlap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45ADB2-AA25-48AB-A685-AA278686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005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画像标签与板块匹配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97E712-FCF9-439B-86D3-027F66B4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71900"/>
            <a:ext cx="3143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7DB631-636F-4FCB-8369-BAB12FEB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433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CB3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8CB3C7"/>
                </a:solidFill>
                <a:latin typeface="Microsoft YaHei"/>
                <a:ea typeface="Microsoft YaHei"/>
                <a:cs typeface="Microsoft YaHei"/>
              </a:rPr>
              <a:t>time_scene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FE5CC0-B224-4A02-B250-DAEC42CD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9814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890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89057"/>
                </a:solidFill>
                <a:latin typeface="Microsoft YaHei"/>
                <a:ea typeface="Microsoft YaHei"/>
                <a:cs typeface="Microsoft YaHei"/>
              </a:rPr>
              <a:t>period + campus scene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5631BC-CC03-41E4-9C94-4770A0B9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005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当前时段场景适配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144AAD-B28F-4658-8D33-6763BE57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00700"/>
            <a:ext cx="10363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2E1973-292F-47B2-8EC9-53148A54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705475"/>
            <a:ext cx="981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统一输出 schema：user_id, post_id, recall_score, recall_source；后续融合阶段不关心候选来自哪个具体算法实现。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B189B50-399D-4498-9EC6-B3BF1D94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1096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AC8D2E-2146-4BE7-AC18-7DBC1D60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召回层目标是“先保证候选够全”，排序和重排再负责精排与体验约束。</a:t>
            </a:r>
          </a:p>
        </p:txBody>
      </p:sp>
    </p:spTree>
    <p:extLst>
      <p:ext uri="{BB962C8B-B14F-4D97-AF65-F5344CB8AC3E}">
        <p14:creationId xmlns:p14="http://schemas.microsoft.com/office/powerpoint/2010/main" val="116811824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27C1C00C-661A-493C-AE27-52A21E8E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left-wash">
            <a:extLst xmlns:a="http://schemas.openxmlformats.org/drawingml/2006/main">
              <a:ext uri="{FF2B5EF4-FFF2-40B4-BE49-F238E27FC236}">
                <a16:creationId xmlns:a16="http://schemas.microsoft.com/office/drawing/2014/main" id="{A4144093-7F25-4B3B-9080-C55C966C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ight-wash">
            <a:extLst xmlns:a="http://schemas.openxmlformats.org/drawingml/2006/main">
              <a:ext uri="{FF2B5EF4-FFF2-40B4-BE49-F238E27FC236}">
                <a16:creationId xmlns:a16="http://schemas.microsoft.com/office/drawing/2014/main" id="{D01B2931-18C1-4A0C-98FE-1F7B8234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152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B62ECE4-D8A4-4D47-BA08-052DDB1F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0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78597E0-CCC7-450D-9CD1-90C73658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rPr>
              <a:t>MERGE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02577B-034A-4F0A-AC52-937B5982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19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src/merge_candidates.py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0BCF98-CD46-4D13-BEFB-7797BD66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33375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291BF2-A94B-4E4E-9550-8A81BE44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11096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190F9E-2C5F-4AF2-8C67-7A3F1BD5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8477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候选融合先做源内归一化，再用通道权重和多源命中奖励稳定候选质量。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B37DFC-2BA5-4FA2-BFCD-0E7EF123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1676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4EA08E-539D-4D02-AE76-FD98B77C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8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E2F117-A09C-4E0D-8B29-671D5D54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1371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concat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E42D06-1ECE-4752-92C6-2C6363B1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1371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合并所有召回结果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E3E771-62C1-4CF0-81BC-2A56E145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9080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1738A3-E236-4245-BC39-FD4A6F37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24100"/>
            <a:ext cx="1676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4"/>
          </a:solidFill>
          <a:ln xmlns:a="http://schemas.openxmlformats.org/drawingml/2006/main" w="9525">
            <a:solidFill>
              <a:srgbClr val="CBD8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370632-2F97-43C3-BE53-550468A8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241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B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AF2F9D-C3BF-4E60-A46A-7709953A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76500"/>
            <a:ext cx="1371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normalize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08EFAB-81CD-46BC-9DF3-8BC69528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00350"/>
            <a:ext cx="1371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每个 recall_source 内 min-max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E6D535-22B4-4898-B036-A7AA6D6F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9080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341657-56CB-4663-8958-8AEB1127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24100"/>
            <a:ext cx="1676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1EF756-B844-4E00-8148-050DD54F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241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8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BC4F78-903F-4BBF-9DE5-E405AE10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76500"/>
            <a:ext cx="1371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weight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628AB5-AC5E-430F-AC4F-46918DC7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00350"/>
            <a:ext cx="1371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按通道可信度加权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A1CF90-B9B6-42C7-A0BE-928E8B35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9080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32A389-6C23-45A3-B44C-BA175CFB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24100"/>
            <a:ext cx="1676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4"/>
          </a:solidFill>
          <a:ln xmlns:a="http://schemas.openxmlformats.org/drawingml/2006/main" w="9525">
            <a:solidFill>
              <a:srgbClr val="CBD8D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707E85-706C-4D2E-90BF-883E697E9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241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B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761684-A187-445E-B698-70DFE211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476500"/>
            <a:ext cx="1371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dedupe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2F27D6-D596-4521-A208-DC491EB5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00350"/>
            <a:ext cx="1371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按 user_id/post_id 去重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1542CA-DEC3-4B60-AD80-FE4F7D75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9080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62F2E0-B554-442B-9F10-A2D922AA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24100"/>
            <a:ext cx="1676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E2FE38-98BB-4AE7-9130-4F7A8BB9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241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8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D27C25-2EDF-461A-8B32-35DED8E0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76500"/>
            <a:ext cx="1371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bonus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8C6AE3-18EE-4757-B91A-EA57C861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00350"/>
            <a:ext cx="1371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source_count 多源奖励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70EF1F-D807-4054-A14F-5E6F1B02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6477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0"/>
          </a:solidFill>
          <a:ln xmlns:a="http://schemas.openxmlformats.org/drawingml/2006/main" w="9525">
            <a:solidFill>
              <a:srgbClr val="CBD8D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CA94D0-B251-4926-94F8-F4693188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71950"/>
            <a:ext cx="590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merged_recall_score = Σ norm(score_s) × weight_s + 0.05 × source_count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FFC368-420F-4A4D-BED5-9505A480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14750"/>
            <a:ext cx="26098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078069-105B-416B-B810-E4816AA4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052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默认通道权重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3C98B6-FE78-4117-B54B-025C2D72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481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content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43936B-9222-439B-9BE3-B6F581A8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2481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rPr>
              <a:t>1.0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2227CE6-C68C-4B1C-B10C-1C75C063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386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itemcf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BD4482D-2F31-4157-BC6F-16034F36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4386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rPr>
              <a:t>1.0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9DF20DA-B315-455E-ACF5-714453F0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6291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profile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D2F6D11-0657-4925-A885-A79B3FCB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6291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rPr>
              <a:t>0.9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C635672-85B0-4414-9FF8-8D7CE512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196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hot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6246899-D77D-4E8F-8FE4-85946A8B6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8196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rPr>
              <a:t>0.8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CA048B0-382D-46F2-B11B-2AC491AF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0101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latest/time_scene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30B62C4-AD0D-4316-840E-89029923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0101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rPr>
              <a:t>0.7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D1A7E7F-F65C-487C-9331-E2000C37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1096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E6D1557-9AC1-47BE-AF34-B57D5DCB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融合后保留 top_k_candidates，作为 DeepFM 的候选输入，降低排序阶段计算量。</a:t>
            </a:r>
          </a:p>
        </p:txBody>
      </p:sp>
    </p:spTree>
    <p:extLst>
      <p:ext uri="{BB962C8B-B14F-4D97-AF65-F5344CB8AC3E}">
        <p14:creationId xmlns:p14="http://schemas.microsoft.com/office/powerpoint/2010/main" val="156310219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F12F6E8C-DD4B-48E9-A00F-5B688EAE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left-wash">
            <a:extLst xmlns:a="http://schemas.openxmlformats.org/drawingml/2006/main">
              <a:ext uri="{FF2B5EF4-FFF2-40B4-BE49-F238E27FC236}">
                <a16:creationId xmlns:a16="http://schemas.microsoft.com/office/drawing/2014/main" id="{40672733-423B-4E05-B8C6-D8BBAE57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ight-wash">
            <a:extLst xmlns:a="http://schemas.openxmlformats.org/drawingml/2006/main">
              <a:ext uri="{FF2B5EF4-FFF2-40B4-BE49-F238E27FC236}">
                <a16:creationId xmlns:a16="http://schemas.microsoft.com/office/drawing/2014/main" id="{D16448DC-3049-4332-960B-97834A74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152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DE04149-A74E-45D2-94BE-883A3DBE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0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4E79EEE-750A-49B4-9067-7E411407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rPr>
              <a:t>DEEPFM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18F5A1-D401-46DE-96D3-A6F2DFA3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19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src/models/deepfm.py, src/ranker.py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A900A3-DCE3-4A2E-A116-6087D157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33375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1A8F28-C233-4013-B663-CD828CAB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11096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4A3D13-D52F-4B23-A132-647849C9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8477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DeepFM 用一套 embedding 同时学习线性记忆、二阶交叉和非线性排序信号。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F4B9C2-E2A9-4262-B14C-0DD49743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247650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C17655-B03A-498C-A0E1-DFBFDD90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输入特征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C25BF9-CA39-4085-A39A-784C9BAB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0EA"/>
          </a:solidFill>
          <a:ln xmlns:a="http://schemas.openxmlformats.org/drawingml/2006/main" w="9525">
            <a:solidFill>
              <a:srgbClr val="B8D2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151D6A-AD34-4485-8C15-CA6FD5C0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38450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rPr>
              <a:t>sparse fields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0532F2-C59D-4661-BAD7-2E664F42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945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0EA"/>
          </a:solidFill>
          <a:ln xmlns:a="http://schemas.openxmlformats.org/drawingml/2006/main" w="9525">
            <a:solidFill>
              <a:srgbClr val="B8D2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527EC7-D640-4755-8F3A-827624DD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57550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rPr>
              <a:t>dense fields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1621C8-BF36-4EC2-B0DD-CE378D04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90950"/>
            <a:ext cx="1809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user/post/board/tags/recall_source</a:t>
            </a:r>
          </a:p>
          <a:p xmlns:a="http://schemas.openxmlformats.org/drawingml/2006/main">
            <a:pPr algn="l">
              <a:defRPr sz="1050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hot/profile/itemcf/time/multi_interest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01FB66-A32D-40F0-BF5B-D0DEF200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38350"/>
            <a:ext cx="342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0EA"/>
          </a:solidFill>
          <a:ln xmlns:a="http://schemas.openxmlformats.org/drawingml/2006/main" w="9525">
            <a:solidFill>
              <a:srgbClr val="CBD8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E0D840-E0E8-4EB9-AF56-73C82439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383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8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9D98ED-91A6-4F45-B4CB-59BA87A0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90750"/>
            <a:ext cx="3124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First-order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EDCEC4-E37E-49EA-8F78-29CC7E25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514600"/>
            <a:ext cx="3124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Embedding → 1</a:t>
            </a:r>
          </a:p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+ dense linear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446B1D-CC97-4252-B282-0DFE209D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62300"/>
            <a:ext cx="342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4"/>
          </a:solidFill>
          <a:ln xmlns:a="http://schemas.openxmlformats.org/drawingml/2006/main" w="9525">
            <a:solidFill>
              <a:srgbClr val="CBD8D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86F149-31D5-4A36-86D9-DAE78361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6230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B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BC15AF-2183-45A0-8C61-EE4B8868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14700"/>
            <a:ext cx="3124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FM second-order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E48113-1F0D-4CA5-AE93-BF257B9A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38550"/>
            <a:ext cx="3124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0.5[(Σv)^2 − Σ(v^2)]</a:t>
            </a:r>
          </a:p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显式二阶交叉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716E96-7144-4A77-9956-235D6830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86250"/>
            <a:ext cx="342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4D4"/>
          </a:solidFill>
          <a:ln xmlns:a="http://schemas.openxmlformats.org/drawingml/2006/main" w="9525">
            <a:solidFill>
              <a:srgbClr val="CBD8D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03BDAE-52F5-4588-B0ED-0F23FDB5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862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0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055867-08B7-43D6-ACBC-1D40D510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38650"/>
            <a:ext cx="3124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DNN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AC84D7-74A1-4771-B5B0-81DA3437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762500"/>
            <a:ext cx="3124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concat embeddings + dense</a:t>
            </a:r>
          </a:p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BatchNorm/ReLU/Dropout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AE7C7B-BB6E-44D7-A9EC-2D9213B9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62300"/>
            <a:ext cx="47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61D1E9-6F12-42A4-8ED0-A57C58E8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90800"/>
            <a:ext cx="27241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C396B9-E42E-4EFF-814A-333B99F6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3845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46C0FA-AA25-44F9-8329-E0BAB81D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528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logit = linear + fm + dnn + bias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97E5B5-B3FC-4020-B425-BA28C27D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147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rPr>
              <a:t>rank_score = sigmoid(logit)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036A31-5BAE-4748-9840-C310EC4C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1096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82F8D1-3B8B-44E3-84F3-43148F4C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训练：BCEWithLogitsLoss + Adam；预测：batch 推理生成 rank_score。</a:t>
            </a:r>
          </a:p>
        </p:txBody>
      </p:sp>
    </p:spTree>
    <p:extLst>
      <p:ext uri="{BB962C8B-B14F-4D97-AF65-F5344CB8AC3E}">
        <p14:creationId xmlns:p14="http://schemas.microsoft.com/office/powerpoint/2010/main" val="162449662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C64446D4-49F7-4600-BB6E-C00FE8FD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left-wash">
            <a:extLst xmlns:a="http://schemas.openxmlformats.org/drawingml/2006/main">
              <a:ext uri="{FF2B5EF4-FFF2-40B4-BE49-F238E27FC236}">
                <a16:creationId xmlns:a16="http://schemas.microsoft.com/office/drawing/2014/main" id="{8C5DE537-A870-4D73-842F-7705B90D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ight-wash">
            <a:extLst xmlns:a="http://schemas.openxmlformats.org/drawingml/2006/main">
              <a:ext uri="{FF2B5EF4-FFF2-40B4-BE49-F238E27FC236}">
                <a16:creationId xmlns:a16="http://schemas.microsoft.com/office/drawing/2014/main" id="{F4067D18-3663-4212-8546-0A1CD5194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152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939702B-5B7F-4666-BE7E-287520C2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0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B9C34FE-7E32-41B1-BD07-31474232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rPr>
              <a:t>FEATURES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255E44-2A92-4276-96F2-E219AE7F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19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src/ranker.py, src/feature_engineering.py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F71754-3A98-4DD1-AE2B-9E9E57B2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33375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F419FB-2E97-4C7B-B889-342D69FE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11096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56307F-905B-4F64-A9CA-34AB5482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8477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排序特征覆盖用户、帖子、召回与场景，同时显式移除会泄漏答案的字段。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760DC3-D5F1-4086-877A-9AD2AD51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30289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C957F8-3D31-445A-853C-1E54172C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622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稀疏特征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300906-24D6-45DA-8CF2-5FD841CD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7655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user_id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C0C9FF-4D88-4946-9EF2-A0EE8BFD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432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8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6447A6-7A3A-464B-AD2C-D1164E09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95625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post_id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931994-7B54-480A-B7F2-EB5DE607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6230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8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143AEA-84C2-4207-9371-F667F095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147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board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87259B-329E-481C-9FFD-5CE129DE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813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8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ADCAA9-C02E-4C59-9BD7-A01587AD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33775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tags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DBEEB3-6A1C-4E1B-A7C1-FAC6C062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8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CF0E91-51C3-423F-9834-FC37058C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5285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topic_type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6295B2-3294-4132-B5F9-F4ED685A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95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8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34D6DD-D23B-4C97-BBC1-F68845BA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71925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time_period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0128B6-E8E7-413D-9DFE-B34D6AC6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3860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8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32DCBA-67BD-498E-871A-9034D760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recall_sources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2531C7-921E-4D4C-9216-FC37E805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8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667CDA-008C-4B1F-A2F4-43BDE71D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14550"/>
            <a:ext cx="30289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0"/>
          </a:solidFill>
          <a:ln xmlns:a="http://schemas.openxmlformats.org/drawingml/2006/main" w="9525">
            <a:solidFill>
              <a:srgbClr val="CBD8D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BB33D3-2F0A-4928-96A3-BB7532AF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622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稠密特征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DEFA1A-94EA-42CA-B5AD-E390D075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7655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hot_score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BA7A9C-4B92-4F4B-BADA-34949ECF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432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8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9F911B-81D0-47B3-99E0-147B373E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95625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final_hot_score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26432C-95D6-4016-81B5-899790F2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8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DA4437-F9E1-4C14-8D7A-4A11ED1B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147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quality_score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D899D2C-12A5-4135-89B8-31F9B4B3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813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8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F6F712-46FF-4BD3-8D22-48B279A7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33775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content_sim_score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FAEEC1-762A-49D1-B67F-D23C902C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0045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8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B25EDF-9997-4C80-9F80-4C958CC7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5285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itemcf_score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C46F50-5242-4182-97DA-C62EB6A9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195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8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109E64-D59E-487D-A059-AB74D4F7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71925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profile_match_score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B8F5629-C8FA-48FE-8B22-EDB5571C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3860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8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EB3676B-1709-4BA8-B126-CB5BB359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910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time_scene_score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CC19B23-5D11-41DB-AC8A-253DACBB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576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8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1AC3059-C5AC-4643-89F0-ED1A8A6B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10075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multi_interest_score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25C31AF-9DD2-4DE0-A755-9D074842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7675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8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9F48D11-F8A5-46E2-8391-73156C64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2915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source_count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D4EA100-8641-4A48-9591-14F147B4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958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8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A7A7A71-1198-4890-B375-BAA75BF1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848225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post_age_hours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A8CB36A-3E06-409C-A623-1AB2672C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1490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8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58FCDCE-3754-4AF4-B004-708B88B4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14550"/>
            <a:ext cx="30289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4D4"/>
          </a:solidFill>
          <a:ln xmlns:a="http://schemas.openxmlformats.org/drawingml/2006/main" w="9525">
            <a:solidFill>
              <a:srgbClr val="CBD8D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31C553E-CB12-4EB0-9721-CC20D91A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622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A4E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A4E2D"/>
                </a:solidFill>
                <a:latin typeface="Microsoft YaHei"/>
                <a:ea typeface="Microsoft YaHei"/>
                <a:cs typeface="Microsoft YaHei"/>
              </a:rPr>
              <a:t>泄漏保护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837CAB4-AADF-4C7A-8B3D-5D83B6F4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7655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label/is_positive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310B2C2-8B9E-4324-8C8F-62820193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432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0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55F2021-9CA3-4A77-8892-553C9AD0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95625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action_type/action_weight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43CECD0-B901-469E-9406-14348F1F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6230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0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61345EA-84F3-44A1-B09C-9F89582B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147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dwell_time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4B2A850-742F-455E-8C13-7609C2E0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813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0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03577CC-E289-439E-89BB-E6B9DC19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33775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like/comment/collect flags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E98C1C2-E57B-41BC-BA1E-FF72E920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0045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0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607F3E3-115D-48E8-84B4-10CF0157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5285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rank/rerank score columns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1A1735E-ED9B-4D0B-9E62-54935B9E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195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0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D1B1DA0-666A-4B67-ACF3-A29F79DE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1096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D27BC67-BC93-450B-982A-2A0330AF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FeatureEncoder 对稀疏字段做字典编码，稠密字段做 z-score 标准化，线上缺失列会补默认值。</a:t>
            </a:r>
          </a:p>
        </p:txBody>
      </p:sp>
    </p:spTree>
    <p:extLst>
      <p:ext uri="{BB962C8B-B14F-4D97-AF65-F5344CB8AC3E}">
        <p14:creationId xmlns:p14="http://schemas.microsoft.com/office/powerpoint/2010/main" val="140162172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66ADCACE-37F7-449B-B096-B2CE4F44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left-wash">
            <a:extLst xmlns:a="http://schemas.openxmlformats.org/drawingml/2006/main">
              <a:ext uri="{FF2B5EF4-FFF2-40B4-BE49-F238E27FC236}">
                <a16:creationId xmlns:a16="http://schemas.microsoft.com/office/drawing/2014/main" id="{82F61565-BC59-4CD5-9C1C-A62F67AE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ight-wash">
            <a:extLst xmlns:a="http://schemas.openxmlformats.org/drawingml/2006/main">
              <a:ext uri="{FF2B5EF4-FFF2-40B4-BE49-F238E27FC236}">
                <a16:creationId xmlns:a16="http://schemas.microsoft.com/office/drawing/2014/main" id="{881297C5-CC99-4B40-948D-3573CB97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152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3CFC2C2-6D6F-46CF-9BA4-57DED1C3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0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462B1E9-5E25-403A-AEFC-FC54917E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rPr>
              <a:t>RERANK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780886-42B5-4AFB-83CF-A2D943D3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19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src/rerank.py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0FF7D8-6E6E-4BBB-9B07-2780B0B0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33375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B4FAEF-371C-4B60-8A1E-D03782EC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11096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5FD879-1896-436B-9541-FE051968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8477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重排层把模型分数转成更像真实信息流的结果，处理看过、重复和过期内容。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BC9682-3A23-428E-B471-F7BC7922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209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94C3B3-2B9A-40A2-A8D3-2118D309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8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212F58-EE6A-47FE-BCEF-E45BB77E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19350"/>
            <a:ext cx="179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硬过滤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0981FB-6373-4C7D-8D37-FD4B5839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43200"/>
            <a:ext cx="1790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去掉已看帖子和不感兴趣标签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9CB590-A38A-4E58-BB6E-3B82A23A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09850"/>
            <a:ext cx="47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302701-EE14-4ABB-9CAD-01191EBF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66950"/>
            <a:ext cx="209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4"/>
          </a:solidFill>
          <a:ln xmlns:a="http://schemas.openxmlformats.org/drawingml/2006/main" w="9525">
            <a:solidFill>
              <a:srgbClr val="CBD8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9BFEBF-0428-4C31-AA30-EA65772D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669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B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579950-3B06-492F-8E4B-0B7ADA80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19350"/>
            <a:ext cx="179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加分项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4F2224-068B-4E1B-8850-651385E8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43200"/>
            <a:ext cx="1790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novelty + freshness + profile_preference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68850E-EBE4-4CC6-88F5-8EEA4693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609850"/>
            <a:ext cx="47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2C8F27-56C5-47CE-93C9-5EBB9695F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209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A5464B-0677-432A-A177-5573AC83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8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196A53-7B4E-45FA-8D31-6659E484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19350"/>
            <a:ext cx="179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多样性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4BED71-7E12-4A6D-8972-90EFFEBD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43200"/>
            <a:ext cx="1790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max_board_top10=6</a:t>
            </a:r>
          </a:p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max_consecutive_board=2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30C8B1-C5AE-433F-89BD-C5DA260B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09850"/>
            <a:ext cx="47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3A7799-689D-4BD8-84A7-54D41563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66950"/>
            <a:ext cx="209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4"/>
          </a:solidFill>
          <a:ln xmlns:a="http://schemas.openxmlformats.org/drawingml/2006/main" w="9525">
            <a:solidFill>
              <a:srgbClr val="CBD8D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2CA635-526E-41E2-BD9E-102FD947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669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B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3B9323-AC6F-4814-8107-491EA305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19350"/>
            <a:ext cx="179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TopN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30C868-8857-40D1-AF41-8D7534CB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43200"/>
            <a:ext cx="1790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按 rerank_score 贪心选择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E2D868-3B8C-4C25-88F5-2FE2DD39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4762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0"/>
          </a:solidFill>
          <a:ln xmlns:a="http://schemas.openxmlformats.org/drawingml/2006/main" w="9525">
            <a:solidFill>
              <a:srgbClr val="CBD8D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35462D-9AD5-4ED3-B3CB-9591196B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86250"/>
            <a:ext cx="4191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rerank_score = base_score + novelty_bonus + freshness_bonus + profile_preference_bonus + diversity_adjustment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92C854-1B68-443A-AC35-95A7A2EB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10000"/>
            <a:ext cx="37338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49002A-82F3-4663-9EC4-01ED1AAE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386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为什么不用模型一把梭？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FCAAF0-3852-42A2-95F0-66F03820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41960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排序模型学点击概率，重排层负责产品策略：新内容曝光、板块多样性、用户显式负反馈。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9006B4-3BCF-42B8-947C-6B81EDFE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1096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5E5A0E-8EF8-460E-800A-95AE1D71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base_score 优先使用 DeepFM rank_score；若模型工件缺失则回退 merged_recall_score。</a:t>
            </a:r>
          </a:p>
        </p:txBody>
      </p:sp>
    </p:spTree>
    <p:extLst>
      <p:ext uri="{BB962C8B-B14F-4D97-AF65-F5344CB8AC3E}">
        <p14:creationId xmlns:p14="http://schemas.microsoft.com/office/powerpoint/2010/main" val="175702213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BEEB6AF3-4CC7-4BBE-A1B4-D8D6ACEB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left-wash">
            <a:extLst xmlns:a="http://schemas.openxmlformats.org/drawingml/2006/main">
              <a:ext uri="{FF2B5EF4-FFF2-40B4-BE49-F238E27FC236}">
                <a16:creationId xmlns:a16="http://schemas.microsoft.com/office/drawing/2014/main" id="{22ED2050-12DC-4684-B6C2-8727EED3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ight-wash">
            <a:extLst xmlns:a="http://schemas.openxmlformats.org/drawingml/2006/main">
              <a:ext uri="{FF2B5EF4-FFF2-40B4-BE49-F238E27FC236}">
                <a16:creationId xmlns:a16="http://schemas.microsoft.com/office/drawing/2014/main" id="{997C2800-332A-4040-AAFC-BB53584F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152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882CB36-B2F0-4201-BE6B-EA788C0F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0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5CD2D6E-7103-4117-95B6-C40F2C15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rPr>
              <a:t>FEEDBACK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BF4949-EA71-4B31-804C-9B4ABA9B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19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src/service.py, src/update_profile.py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ED95CD-09D1-40BD-A728-D5A5D259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33375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DDDC99-CE0B-4FF1-9BEF-0117F0C4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11096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F0AF20-B761-408E-9B7C-A4989C86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8477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线上反馈先更新事件、计数和画像，排序模型保持离线训练、在线推理的边界。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BFC154-4DFD-4306-84B6-C5EB58F2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478F7B-11BE-49AB-834E-AE263738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8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37BF58-BA6B-4502-93A2-1AD18072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前端行为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C705AE-6356-43D3-AC98-9651BCEA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552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view / like / collect / skip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BBE837-9E56-4A7C-9692-3580F63C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52700"/>
            <a:ext cx="38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9CC396-377D-41EB-BEB7-5E6D499E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66950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0"/>
          </a:solidFill>
          <a:ln xmlns:a="http://schemas.openxmlformats.org/drawingml/2006/main" w="9525">
            <a:solidFill>
              <a:srgbClr val="CBD8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440A7F-9D2A-431E-9EE7-FC6EFCBB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66950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B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2D52EF-41CE-4730-95C2-754E1546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19350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118961-0BF3-46AE-A535-B44F453F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43200"/>
            <a:ext cx="2552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/api/behavior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1E7240-0B17-494D-A7B2-537059ED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552700"/>
            <a:ext cx="38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995435-D29B-482F-966A-43B68B07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66950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256881-BA45-44D1-B0EA-55EA6A06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66950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8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BFC9B1-B60A-4514-8092-F34DD1C7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19350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事件表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819F8B-B903-4A62-9333-B9C48E36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43200"/>
            <a:ext cx="2552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USER_EVENTS 写入或删除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5103D0-F568-4E87-9B5D-523137E5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0"/>
          </a:solidFill>
          <a:ln xmlns:a="http://schemas.openxmlformats.org/drawingml/2006/main" w="9525">
            <a:solidFill>
              <a:srgbClr val="CBD8D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2A4EBC-D351-49C1-A3A3-E59E2AE1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B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49204C-E176-4BDB-AF7F-2E1EC04B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统计同步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098D69-C299-4310-B29B-388C0B92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19600"/>
            <a:ext cx="2552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post_stats 计数增减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90B173-F288-4D66-931A-43061771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229100"/>
            <a:ext cx="38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83B7FD-AFFE-41DA-879A-D5C19583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43350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290D53-937B-46A3-AB63-AB332083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43350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8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8F2C6A-9423-443C-908E-0BF461BF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95750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画像刷新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BA5753-0C38-43FB-B567-126E2111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19600"/>
            <a:ext cx="2552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build_user_profile_table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3388B9-4083-494C-A921-E2229A46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229100"/>
            <a:ext cx="38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183F19-4C8D-4657-894F-780D34C6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43350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0"/>
          </a:solidFill>
          <a:ln xmlns:a="http://schemas.openxmlformats.org/drawingml/2006/main" w="9525">
            <a:solidFill>
              <a:srgbClr val="CBD8D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738469-B2CD-4DD4-8C6C-F1FB76A5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43350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B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2802A8-55BF-4837-979C-4C335C7A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95750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下一轮推荐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CCA9F52-64ED-4E8C-9F73-5DD3E29C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419600"/>
            <a:ext cx="2552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召回与重排可立即感知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DDF9E6-76E9-46E7-8A68-A0F83ED7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90900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4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44B7B0-0880-401B-B1DD-282036B3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0042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A4E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A4E2D"/>
                </a:solidFill>
                <a:latin typeface="Microsoft YaHei"/>
                <a:ea typeface="Microsoft YaHei"/>
                <a:cs typeface="Microsoft YaHei"/>
              </a:rPr>
              <a:t>取消点赞/收藏：删除对应行为记录，而不是写入 unlike/uncollect 新状态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C5A891E-4A32-48D0-A200-88A59F24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1096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3B96F60-4BE2-45A8-8932-3F6E63CD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这解释了前端红心/收藏即时变化背后的服务端状态：事件和计数要一起同步。</a:t>
            </a:r>
          </a:p>
        </p:txBody>
      </p:sp>
    </p:spTree>
    <p:extLst>
      <p:ext uri="{BB962C8B-B14F-4D97-AF65-F5344CB8AC3E}">
        <p14:creationId xmlns:p14="http://schemas.microsoft.com/office/powerpoint/2010/main" val="14544266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32498B9B-8DF5-4496-AA56-FBEF498B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left-wash">
            <a:extLst xmlns:a="http://schemas.openxmlformats.org/drawingml/2006/main">
              <a:ext uri="{FF2B5EF4-FFF2-40B4-BE49-F238E27FC236}">
                <a16:creationId xmlns:a16="http://schemas.microsoft.com/office/drawing/2014/main" id="{958FE3F2-36F0-4A09-8823-16079A8C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ight-wash">
            <a:extLst xmlns:a="http://schemas.openxmlformats.org/drawingml/2006/main">
              <a:ext uri="{FF2B5EF4-FFF2-40B4-BE49-F238E27FC236}">
                <a16:creationId xmlns:a16="http://schemas.microsoft.com/office/drawing/2014/main" id="{053E1268-D420-4FEF-8769-88EF76F3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152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C6D5269-695A-4A3A-BC0A-2111D3AF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0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6DFC7E6-75C1-4D92-9066-EF7CBD4D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rPr>
              <a:t>EVALUATION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DAAEF9-6E66-4FB9-984E-B6F7EC01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19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src/evaluate.py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6622EB-BE24-496A-A62C-D0979372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33375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90CECB-244A-4AAC-9F15-D39E95F0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11096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8BA95D-E594-492D-8AF5-C7686B13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8477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评估采用 TopK 推荐指标；下一步应把效果、延迟和实时性一起纳入迭代。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B19319-095F-46B9-8BEF-B5DDEB59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495300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0E1D1F-7C48-4943-AF92-C96669C0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431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离线指标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0B64F3-2AD7-41C3-B9D6-5ADC3BE4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146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rPr>
              <a:t>Precision@K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D1FFA5-F39C-4689-8FB1-1885DD5A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9146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推荐列表前 K 个里命中真实正反馈的比例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B8FA9F-7ECE-438F-98A5-4505D1B9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718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rPr>
              <a:t>Recall@K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917E74-FA46-4A98-885E-971A2451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3718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真实正反馈被前 K 推荐覆盖的比例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104B48-C2D6-4F07-9CE2-A093E9A6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290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rPr>
              <a:t>HR@K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0E573C-17E8-4A78-8F3C-9C9AA4BE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8290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前 K 中是否至少命中一个正反馈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6DFA83-34AB-49CB-BD9E-9AD000BF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862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F735E"/>
                </a:solidFill>
                <a:latin typeface="Microsoft YaHei"/>
                <a:ea typeface="Microsoft YaHei"/>
                <a:cs typeface="Microsoft YaHei"/>
              </a:rPr>
              <a:t>NDCG@K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E1A2CE-A8DC-422D-B36F-3ED94DCF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862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同时考虑命中位置，越靠前收益越高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58F044-F266-44DD-B600-4A1FBE46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95500"/>
            <a:ext cx="453390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0"/>
          </a:solidFill>
          <a:ln xmlns:a="http://schemas.openxmlformats.org/drawingml/2006/main" w="9525">
            <a:solidFill>
              <a:srgbClr val="CBD8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3A23EE-FE1E-4299-998D-2B482F5A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431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汇报结论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827210-8E30-4062-BA73-61DDA329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24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8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77256D-BBD3-4FC6-9BB3-BEF8E4C0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194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多路召回保证候选覆盖，DeepFM 负责统一排序。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8B4366-54F0-4C93-9295-CA087F53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00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B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6F580F-1DA4-4FE9-822A-33110422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956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用户画像和推荐理由让系统具备可解释性。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590E8A-2E9C-4646-9564-16F79E7B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76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0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47F73F-6A15-4504-96F2-2717801D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7719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重排层补齐新鲜度、多样性和显式负反馈。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2C41ED-CAB4-4BC1-80F6-FA517B68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52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7D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09F032-DEFC-4263-87A3-1BF560B2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2481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431"/>
                </a:solidFill>
                <a:latin typeface="Microsoft YaHei"/>
                <a:ea typeface="Microsoft YaHei"/>
                <a:cs typeface="Microsoft YaHei"/>
              </a:rPr>
              <a:t>未来重点：缓存降延迟、A/B 评估、语义 embedding、实时特征。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09DA1B-B79E-4C0F-93E3-93877D5B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1096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DBEB0A-653B-449C-B150-DB9C1057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6F6A"/>
                </a:solidFill>
                <a:latin typeface="Microsoft YaHei"/>
                <a:ea typeface="Microsoft YaHei"/>
                <a:cs typeface="Microsoft YaHei"/>
              </a:rPr>
              <a:t>评估函数已实现，但本 PPT 不编造具体分数；若跑完整训练评估，可把结果补到本页。</a:t>
            </a:r>
          </a:p>
        </p:txBody>
      </p:sp>
    </p:spTree>
    <p:extLst>
      <p:ext uri="{BB962C8B-B14F-4D97-AF65-F5344CB8AC3E}">
        <p14:creationId xmlns:p14="http://schemas.microsoft.com/office/powerpoint/2010/main" val="16431810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2026-06-05T12:23:28.9920000Z</dcterms:created>
  <dcterms:modified xsi:type="dcterms:W3CDTF">2026-06-05T12:23:28.9920000Z</dcterms:modified>
</coreProperties>
</file>